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4612106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4612106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4612106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4612106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4612106b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4612106b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4612106b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4612106b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7c25323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7c25323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4612106b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4612106b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4612106b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4612106b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4612106b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4612106b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4612106b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4612106b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4612106b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4612106b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QCL</a:t>
            </a:r>
            <a:endParaRPr/>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QCL output beam waist w_0=2.5 mm</a:t>
            </a:r>
            <a:endParaRPr/>
          </a:p>
          <a:p>
            <a:pPr indent="0" lvl="0" marL="0" rtl="0" algn="l">
              <a:spcBef>
                <a:spcPts val="1200"/>
              </a:spcBef>
              <a:spcAft>
                <a:spcPts val="1200"/>
              </a:spcAft>
              <a:buNone/>
            </a:pPr>
            <a:r>
              <a:rPr lang="en"/>
              <a:t>Stable until 30-50 cm from the output.</a:t>
            </a:r>
            <a:endParaRPr/>
          </a:p>
        </p:txBody>
      </p:sp>
      <p:pic>
        <p:nvPicPr>
          <p:cNvPr id="56" name="Google Shape;56;p13" title="Screenshot 2026-02-06 at 12.42.27.png"/>
          <p:cNvPicPr preferRelativeResize="0"/>
          <p:nvPr/>
        </p:nvPicPr>
        <p:blipFill rotWithShape="1">
          <a:blip r:embed="rId3">
            <a:alphaModFix/>
          </a:blip>
          <a:srcRect b="0" l="0" r="0" t="2979"/>
          <a:stretch/>
        </p:blipFill>
        <p:spPr>
          <a:xfrm>
            <a:off x="1171575" y="2295525"/>
            <a:ext cx="7181849" cy="2030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Steering</a:t>
            </a:r>
            <a:endParaRPr/>
          </a:p>
        </p:txBody>
      </p:sp>
      <p:sp>
        <p:nvSpPr>
          <p:cNvPr id="62" name="Google Shape;62;p14"/>
          <p:cNvSpPr txBox="1"/>
          <p:nvPr>
            <p:ph idx="1" type="body"/>
          </p:nvPr>
        </p:nvSpPr>
        <p:spPr>
          <a:xfrm>
            <a:off x="311700" y="1152475"/>
            <a:ext cx="511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gold coated plane mirror used to rotate the beam by 90 degrees. Two mirror system used to make the alignment easier. Gold mirror’ model to be added here. </a:t>
            </a:r>
            <a:endParaRPr/>
          </a:p>
          <a:p>
            <a:pPr indent="0" lvl="0" marL="0" rtl="0" algn="l">
              <a:spcBef>
                <a:spcPts val="1200"/>
              </a:spcBef>
              <a:spcAft>
                <a:spcPts val="1200"/>
              </a:spcAft>
              <a:buNone/>
            </a:pPr>
            <a:r>
              <a:rPr lang="en"/>
              <a:t>Second mirror is gold coated off-axis parabolic mirror. It focuses the incident collimated beam while redirecting it by 90 degrees. Mirror model is MPD149-M01. Its reflective focal length is 101.6 mm (4 inches). </a:t>
            </a:r>
            <a:endParaRPr/>
          </a:p>
        </p:txBody>
      </p:sp>
      <p:pic>
        <p:nvPicPr>
          <p:cNvPr id="63" name="Google Shape;63;p14"/>
          <p:cNvPicPr preferRelativeResize="0"/>
          <p:nvPr/>
        </p:nvPicPr>
        <p:blipFill>
          <a:blip r:embed="rId3">
            <a:alphaModFix/>
          </a:blip>
          <a:stretch>
            <a:fillRect/>
          </a:stretch>
        </p:blipFill>
        <p:spPr>
          <a:xfrm>
            <a:off x="5686575" y="865325"/>
            <a:ext cx="2816744" cy="38209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ADM</a:t>
            </a:r>
            <a:endParaRPr/>
          </a:p>
        </p:txBody>
      </p:sp>
      <p:sp>
        <p:nvSpPr>
          <p:cNvPr id="69" name="Google Shape;69;p1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Beam diameter should be less than 1.6 mm to be able to focus the beam inside ADM. I measured distance between the prongs of the QTF as 0.8 mm, but it is not </a:t>
            </a:r>
            <a:r>
              <a:rPr lang="en"/>
              <a:t>separately</a:t>
            </a:r>
            <a:r>
              <a:rPr lang="en"/>
              <a:t> stated. Module connected to 5-axis translational stage PY005. </a:t>
            </a:r>
            <a:endParaRPr/>
          </a:p>
        </p:txBody>
      </p:sp>
      <p:pic>
        <p:nvPicPr>
          <p:cNvPr id="70" name="Google Shape;70;p15"/>
          <p:cNvPicPr preferRelativeResize="0"/>
          <p:nvPr/>
        </p:nvPicPr>
        <p:blipFill rotWithShape="1">
          <a:blip r:embed="rId3">
            <a:alphaModFix/>
          </a:blip>
          <a:srcRect b="0" l="16049" r="35230" t="0"/>
          <a:stretch/>
        </p:blipFill>
        <p:spPr>
          <a:xfrm>
            <a:off x="5155650" y="1152475"/>
            <a:ext cx="3267077" cy="37719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Beam diameter calculation</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Gaussian collimated beam focusing formula</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have w_0=2.5 mm and wavelength of 7.7 µm. With f=101.6 mm w’_0=0.1 mm or simply 100 </a:t>
            </a:r>
            <a:r>
              <a:rPr lang="en"/>
              <a:t>µm at 101.6 away from the main optical axis of the OAP. Rayleigh range z_R=4.1 mm.</a:t>
            </a:r>
            <a:endParaRPr/>
          </a:p>
        </p:txBody>
      </p:sp>
      <p:pic>
        <p:nvPicPr>
          <p:cNvPr id="77" name="Google Shape;77;p16" title="Screenshot 2026-02-05 at 23.24.26.png"/>
          <p:cNvPicPr preferRelativeResize="0"/>
          <p:nvPr/>
        </p:nvPicPr>
        <p:blipFill>
          <a:blip r:embed="rId3">
            <a:alphaModFix/>
          </a:blip>
          <a:stretch>
            <a:fillRect/>
          </a:stretch>
        </p:blipFill>
        <p:spPr>
          <a:xfrm>
            <a:off x="3619500" y="1638300"/>
            <a:ext cx="1771650" cy="1181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Beam waist at window</a:t>
            </a:r>
            <a:endParaRPr/>
          </a:p>
        </p:txBody>
      </p:sp>
      <p:sp>
        <p:nvSpPr>
          <p:cNvPr id="83" name="Google Shape;83;p17"/>
          <p:cNvSpPr txBox="1"/>
          <p:nvPr>
            <p:ph idx="1" type="body"/>
          </p:nvPr>
        </p:nvSpPr>
        <p:spPr>
          <a:xfrm>
            <a:off x="311700" y="1152475"/>
            <a:ext cx="4631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Wedged window located approximately at 22.1 mm away from the QTF. Since QTF placed at the focus, we can calculate gaussian beam waist at the window, which is w(101.6-22.1=79.5 mm)=0.55 mm, corresponds to 1.1 mm beam diameter. This value still smaller than 1.6 mm, indicated beam diameter value for the ADM.</a:t>
            </a:r>
            <a:endParaRPr/>
          </a:p>
        </p:txBody>
      </p:sp>
      <p:pic>
        <p:nvPicPr>
          <p:cNvPr id="84" name="Google Shape;84;p17" title="ADM01-Step.step.png"/>
          <p:cNvPicPr preferRelativeResize="0"/>
          <p:nvPr/>
        </p:nvPicPr>
        <p:blipFill rotWithShape="1">
          <a:blip r:embed="rId3">
            <a:alphaModFix/>
          </a:blip>
          <a:srcRect b="25978" l="24040" r="41256" t="7801"/>
          <a:stretch/>
        </p:blipFill>
        <p:spPr>
          <a:xfrm>
            <a:off x="4973601" y="1080005"/>
            <a:ext cx="3467626" cy="35613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Window losses</a:t>
            </a:r>
            <a:endParaRPr/>
          </a:p>
        </p:txBody>
      </p:sp>
      <p:sp>
        <p:nvSpPr>
          <p:cNvPr id="90" name="Google Shape;90;p18"/>
          <p:cNvSpPr txBox="1"/>
          <p:nvPr>
            <p:ph idx="1" type="body"/>
          </p:nvPr>
        </p:nvSpPr>
        <p:spPr>
          <a:xfrm>
            <a:off x="311700" y="1152475"/>
            <a:ext cx="3955500" cy="36768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t>To be sure that beam does not hit the walls or resonator tubes inside the ADM both input and output laser power should be measured and compared. Both ends have BaF2 window with thickness of approximately 2.5 mm. BaF2 transmittance values provided in the thorlabs website for each wavelength. By using Fresnel equations combined with Beer-Lambert for bulk losses, from presented values first absorbance of the BaF2 should be found. Then, for given wedge window thickness of the ADM projected loss through both windows should be included.</a:t>
            </a:r>
            <a:endParaRPr/>
          </a:p>
        </p:txBody>
      </p:sp>
      <p:pic>
        <p:nvPicPr>
          <p:cNvPr id="91" name="Google Shape;91;p18"/>
          <p:cNvPicPr preferRelativeResize="0"/>
          <p:nvPr/>
        </p:nvPicPr>
        <p:blipFill>
          <a:blip r:embed="rId3">
            <a:alphaModFix/>
          </a:blip>
          <a:stretch>
            <a:fillRect/>
          </a:stretch>
        </p:blipFill>
        <p:spPr>
          <a:xfrm>
            <a:off x="4267200" y="1152475"/>
            <a:ext cx="4810200" cy="32129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Window losses</a:t>
            </a:r>
            <a:endParaRPr/>
          </a:p>
        </p:txBody>
      </p:sp>
      <p:sp>
        <p:nvSpPr>
          <p:cNvPr id="97" name="Google Shape;97;p19"/>
          <p:cNvSpPr txBox="1"/>
          <p:nvPr>
            <p:ph idx="1" type="body"/>
          </p:nvPr>
        </p:nvSpPr>
        <p:spPr>
          <a:xfrm>
            <a:off x="311700" y="1152475"/>
            <a:ext cx="3717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Given T= 92% for 7.7</a:t>
            </a:r>
            <a:r>
              <a:rPr lang="en"/>
              <a:t> µm</a:t>
            </a:r>
            <a:r>
              <a:rPr lang="en"/>
              <a:t> for 10 mm thick BaF2. Yields α=1.98 cm-1 for bulk absorption. By </a:t>
            </a:r>
            <a:r>
              <a:rPr lang="en"/>
              <a:t>using</a:t>
            </a:r>
            <a:r>
              <a:rPr lang="en"/>
              <a:t> this values, T’= 93.4% for 2.5 mm window. Since we have two windows, we need to apply this formula twice. Combined T for ADM results with T=87.2%.</a:t>
            </a:r>
            <a:endParaRPr/>
          </a:p>
        </p:txBody>
      </p:sp>
      <p:pic>
        <p:nvPicPr>
          <p:cNvPr id="98" name="Google Shape;98;p19" title="Screenshot 2026-02-06 at 12.25.56.png"/>
          <p:cNvPicPr preferRelativeResize="0"/>
          <p:nvPr/>
        </p:nvPicPr>
        <p:blipFill>
          <a:blip r:embed="rId3">
            <a:alphaModFix/>
          </a:blip>
          <a:stretch>
            <a:fillRect/>
          </a:stretch>
        </p:blipFill>
        <p:spPr>
          <a:xfrm>
            <a:off x="4895850" y="1871671"/>
            <a:ext cx="3251526" cy="700075"/>
          </a:xfrm>
          <a:prstGeom prst="rect">
            <a:avLst/>
          </a:prstGeom>
          <a:noFill/>
          <a:ln>
            <a:noFill/>
          </a:ln>
        </p:spPr>
      </p:pic>
      <p:sp>
        <p:nvSpPr>
          <p:cNvPr id="99" name="Google Shape;99;p19"/>
          <p:cNvSpPr txBox="1"/>
          <p:nvPr/>
        </p:nvSpPr>
        <p:spPr>
          <a:xfrm>
            <a:off x="4743450" y="2724150"/>
            <a:ext cx="3698400" cy="1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 transmittance, R: reflectance, α: absorbance, d: thickness</a:t>
            </a:r>
            <a:endParaRPr sz="10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Alignment</a:t>
            </a:r>
            <a:endParaRPr/>
          </a:p>
        </p:txBody>
      </p:sp>
      <p:sp>
        <p:nvSpPr>
          <p:cNvPr id="105" name="Google Shape;105;p20"/>
          <p:cNvSpPr txBox="1"/>
          <p:nvPr>
            <p:ph idx="1" type="body"/>
          </p:nvPr>
        </p:nvSpPr>
        <p:spPr>
          <a:xfrm>
            <a:off x="311700" y="1133475"/>
            <a:ext cx="4784100" cy="34947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1200"/>
              </a:spcAft>
              <a:buNone/>
            </a:pPr>
            <a:r>
              <a:rPr lang="en" sz="1700"/>
              <a:t>First plane mirror aligned with the laser output to steer the beam into OAP mirror. To be able to focus </a:t>
            </a:r>
            <a:r>
              <a:rPr lang="en" sz="1700"/>
              <a:t>properly with the OAPM, beam should be parallel to the optical axis. OAPM should be located exactly at the focus distance from the center of the ADM, which is 101.6 mm. Optical axis is at the half distance of the mirror and QTF approximately located at the middle of the ADM. These points can be marked with a pen for better alignment. After beam is incident to the optical axis, OAPM height and orientation should be set perpendicular to the ADM input window. Without using the knobs, by orienting the OAPM beam can be directed to the ADM input. After that point, OAPM should be fixed. </a:t>
            </a:r>
            <a:endParaRPr sz="1700"/>
          </a:p>
        </p:txBody>
      </p:sp>
      <p:pic>
        <p:nvPicPr>
          <p:cNvPr id="106" name="Google Shape;106;p20"/>
          <p:cNvPicPr preferRelativeResize="0"/>
          <p:nvPr/>
        </p:nvPicPr>
        <p:blipFill rotWithShape="1">
          <a:blip r:embed="rId3">
            <a:alphaModFix/>
          </a:blip>
          <a:srcRect b="0" l="23969" r="7194" t="22155"/>
          <a:stretch/>
        </p:blipFill>
        <p:spPr>
          <a:xfrm>
            <a:off x="5193750" y="1723537"/>
            <a:ext cx="3638548" cy="231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Alignment</a:t>
            </a:r>
            <a:endParaRPr/>
          </a:p>
        </p:txBody>
      </p:sp>
      <p:sp>
        <p:nvSpPr>
          <p:cNvPr id="112" name="Google Shape;112;p21"/>
          <p:cNvSpPr txBox="1"/>
          <p:nvPr>
            <p:ph idx="1" type="body"/>
          </p:nvPr>
        </p:nvSpPr>
        <p:spPr>
          <a:xfrm>
            <a:off x="311700" y="1152475"/>
            <a:ext cx="54891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After beam is entered to the ADM window at RFL distance, next step is to fine tune the alignment via 5 stage optical axis under the ADM. After beam have seen at the output, next step is to place a power meter on the output of the ADM to fine tune the alignment. Depending on the </a:t>
            </a:r>
            <a:r>
              <a:rPr lang="en"/>
              <a:t>wavelength</a:t>
            </a:r>
            <a:r>
              <a:rPr lang="en"/>
              <a:t>, input and output power should be compared by including window losses, which is 12.8% for 7.7 </a:t>
            </a:r>
            <a:r>
              <a:rPr lang="en"/>
              <a:t>µm. If input and output beam close to each other after including the window losses, beam can be considered to aligned and experiment can be further conducted. </a:t>
            </a:r>
            <a:endParaRPr/>
          </a:p>
        </p:txBody>
      </p:sp>
      <p:pic>
        <p:nvPicPr>
          <p:cNvPr id="113" name="Google Shape;113;p21"/>
          <p:cNvPicPr preferRelativeResize="0"/>
          <p:nvPr/>
        </p:nvPicPr>
        <p:blipFill>
          <a:blip r:embed="rId3">
            <a:alphaModFix/>
          </a:blip>
          <a:stretch>
            <a:fillRect/>
          </a:stretch>
        </p:blipFill>
        <p:spPr>
          <a:xfrm>
            <a:off x="6277050" y="1017725"/>
            <a:ext cx="2149298"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setup</a:t>
            </a:r>
            <a:endParaRPr/>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2"/>
          <p:cNvPicPr preferRelativeResize="0"/>
          <p:nvPr/>
        </p:nvPicPr>
        <p:blipFill>
          <a:blip r:embed="rId3">
            <a:alphaModFix/>
          </a:blip>
          <a:stretch>
            <a:fillRect/>
          </a:stretch>
        </p:blipFill>
        <p:spPr>
          <a:xfrm rot="-5400000">
            <a:off x="2682486" y="-272709"/>
            <a:ext cx="3664725" cy="65150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